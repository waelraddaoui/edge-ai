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EDGE AI &amp; MAINTENANCE PRÉDICTIVE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6B00"/>
                </a:solidFill>
              </a:rPr>
              <a:t>Surveillance Intelligente et Détection d'Anomalies sur Roulements Industriels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2697480"/>
            <a:ext cx="7589520" cy="36576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CCE4FF"/>
                </a:solidFill>
              </a:rPr>
              <a:t>TinyML sur ESP32 · Gradient Boosting · Explicabilité XAI · Agent RAG · Dashboard Temps Réel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114800"/>
            <a:ext cx="2651760" cy="914400"/>
          </a:xfrm>
          <a:prstGeom prst="rect">
            <a:avLst/>
          </a:prstGeom>
          <a:solidFill>
            <a:srgbClr val="00386A"/>
          </a:solidFill>
          <a:ln w="127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BBFF"/>
                </a:solidFill>
              </a:rPr>
              <a:t>Étudiant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26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Soutenance Stage PFE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4114800"/>
            <a:ext cx="2651760" cy="914400"/>
          </a:xfrm>
          <a:prstGeom prst="rect">
            <a:avLst/>
          </a:prstGeom>
          <a:solidFill>
            <a:srgbClr val="00386A"/>
          </a:solidFill>
          <a:ln w="127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4206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BBFF"/>
                </a:solidFill>
              </a:rPr>
              <a:t>Établissement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526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ESPRIM - Monastir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114800"/>
            <a:ext cx="2651760" cy="914400"/>
          </a:xfrm>
          <a:prstGeom prst="rect">
            <a:avLst/>
          </a:prstGeom>
          <a:solidFill>
            <a:srgbClr val="00386A"/>
          </a:solidFill>
          <a:ln w="127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206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BBFF"/>
                </a:solidFill>
              </a:rPr>
              <a:t>Encadrante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526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Mme Amina Rouis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4114800"/>
            <a:ext cx="2651760" cy="914400"/>
          </a:xfrm>
          <a:prstGeom prst="rect">
            <a:avLst/>
          </a:prstGeom>
          <a:solidFill>
            <a:srgbClr val="00386A"/>
          </a:solidFill>
          <a:ln w="127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4206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BBFF"/>
                </a:solidFill>
              </a:rPr>
              <a:t>Spécialité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526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Edge AI &amp; IoT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1. Contexte &amp; Problématique Industrielle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FF"/>
                </a:solidFill>
              </a:rPr>
              <a:t>Transition de la maintenance corrective vers la maintenance prédictive 4.0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03520" cy="4754880"/>
          </a:xfrm>
          <a:prstGeom prst="rect">
            <a:avLst/>
          </a:prstGeom>
          <a:solidFill>
            <a:srgbClr val="FFF2F0"/>
          </a:solidFill>
          <a:ln w="25400">
            <a:solidFill>
              <a:srgbClr val="E5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52B2B"/>
                </a:solidFill>
              </a:rPr>
              <a:t>❌ Approches Conventionnelles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1111"/>
                </a:solidFill>
              </a:rPr>
              <a:t>• Pannes de roulements non planifiées (arrêts d'usines).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1111"/>
                </a:solidFill>
              </a:rPr>
              <a:t>• Maintenance corrective coûteuse (jusqu'à 10x plus cher).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1111"/>
                </a:solidFill>
              </a:rPr>
              <a:t>• Envoi massif des données brutes vers le Cloud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776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1111"/>
                </a:solidFill>
              </a:rPr>
              <a:t>   - Latence réseau inacceptable (&gt; 500 ms).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1111"/>
                </a:solidFill>
              </a:rPr>
              <a:t>   - Coûts de bande passante et stockage prohibitifs.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663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1111"/>
                </a:solidFill>
              </a:rPr>
              <a:t>   - Dépendance totale à la connexion Internet.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463040"/>
            <a:ext cx="5394960" cy="4754880"/>
          </a:xfrm>
          <a:prstGeom prst="rect">
            <a:avLst/>
          </a:prstGeom>
          <a:solidFill>
            <a:srgbClr val="F0FFF4"/>
          </a:solidFill>
          <a:ln w="25400">
            <a:solidFill>
              <a:srgbClr val="10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A35A"/>
                </a:solidFill>
              </a:rPr>
              <a:t>✅ Solution Développée : Edge AI &amp; IoT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945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4415"/>
                </a:solidFill>
              </a:rPr>
              <a:t>• Traitement directement sur le nœud embarqué (Edge).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7889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4415"/>
                </a:solidFill>
              </a:rPr>
              <a:t>• Inférence locale en ultra-basse latence (&lt; 2 ms).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832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4415"/>
                </a:solidFill>
              </a:rPr>
              <a:t>• TinyML sur microcontrôleur ESP32 à coût dérisoire.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9776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4415"/>
                </a:solidFill>
              </a:rPr>
              <a:t>• Coupure de sécurité automatique via actionneur MOSFET.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572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4415"/>
                </a:solidFill>
              </a:rPr>
              <a:t>• Explicabilité (XAI) pour assister les techniciens de terrain.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166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4415"/>
                </a:solidFill>
              </a:rPr>
              <a:t>• Agent RAG pour le diagnostic assisté par base documentaire.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Soutenance de Stage PFE — Edge AI &amp; IoT Predictive Maintenance — ESPRIM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2. Architecture Globale du Système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FF"/>
                </a:solidFill>
              </a:rPr>
              <a:t>Une chaîne complète intégrée de bout en bout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566160" cy="4754880"/>
          </a:xfrm>
          <a:prstGeom prst="rect">
            <a:avLst/>
          </a:prstGeom>
          <a:solidFill>
            <a:srgbClr val="F6FAFF"/>
          </a:solidFill>
          <a:ln w="254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566160" cy="5486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NIVEAU 1 : CAPTEURS &amp; 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2B55"/>
                </a:solidFill>
              </a:rPr>
              <a:t>Accéléromètre MPU-6050 (12 kHz)
DOIT ESP32 DevKit V1
Extraction 16 features FFT en local
TinyML C++ embarqué (0.02 ms)
Actionneur coupure MOSFET (GPIO 23)
Écran OLED SSD1306 (128x64)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566160" cy="4754880"/>
          </a:xfrm>
          <a:prstGeom prst="rect">
            <a:avLst/>
          </a:prstGeom>
          <a:solidFill>
            <a:srgbClr val="F6FAFF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566160" cy="54864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5727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NIVEAU 2 : PASSERELLE &amp; ANALYSE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9456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2B55"/>
                </a:solidFill>
              </a:rPr>
              <a:t>Serveur Edge Python / Raspberry Pi
Modèles Gradient Boosting &amp; XGBoost
Benchmark comparatif 5 architectures
Explicabilité XAI (TreeSHAP)
Protocole IoT MQTT &amp; Télémétrie JSON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463040"/>
            <a:ext cx="3566160" cy="4754880"/>
          </a:xfrm>
          <a:prstGeom prst="rect">
            <a:avLst/>
          </a:prstGeom>
          <a:solidFill>
            <a:srgbClr val="F6FAFF"/>
          </a:solidFill>
          <a:ln w="25400">
            <a:solidFill>
              <a:srgbClr val="10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63040"/>
            <a:ext cx="3566160" cy="548640"/>
          </a:xfrm>
          <a:prstGeom prst="rect">
            <a:avLst/>
          </a:prstGeom>
          <a:solidFill>
            <a:srgbClr val="10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727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NIVEAU 3 : SUPERVISION &amp; 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9456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2B55"/>
                </a:solidFill>
              </a:rPr>
              <a:t>API REST FastAPI haute performance
Agent RAG (MiniLM-L12 multilingue)
Base de connaissances (16 docs ISO)
Dashboard Web interactif (React 19)
Génération de rapports PDF officiels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Soutenance de Stage PFE — Edge AI &amp; IoT Predictive Maintenance — ESPRIM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3. Prétraitement du Signal &amp; Extraction des Caractéristiques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FF"/>
                </a:solidFill>
              </a:rPr>
              <a:t>Du signal brut vibratoire aux signatures physiques de défaillance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840480" cy="4754880"/>
          </a:xfrm>
          <a:prstGeom prst="rect">
            <a:avLst/>
          </a:prstGeom>
          <a:solidFill>
            <a:srgbClr val="F0F4FF"/>
          </a:solidFill>
          <a:ln w="1905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B55"/>
                </a:solidFill>
              </a:rPr>
              <a:t>📊 Dataset de Référence CWRU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66"/>
                </a:solidFill>
              </a:rPr>
              <a:t>• 1 200 000 points d'accélération.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66"/>
                </a:solidFill>
              </a:rPr>
              <a:t>• Fréquence d'échantillonnage : 12 kHz.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66"/>
                </a:solidFill>
              </a:rPr>
              <a:t>• 4 classes : Sain, Bague Interne (BPFI),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776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66"/>
                </a:solidFill>
              </a:rPr>
              <a:t>  Bague Externe (BPFO), Bille (BSF).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66"/>
                </a:solidFill>
              </a:rPr>
              <a:t>• Fenêtrage glissant : 1024 points (50% recouvrement).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663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66"/>
                </a:solidFill>
              </a:rPr>
              <a:t>• 2 330 fenêtres extraites et normalisées (StandardScaler).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463040"/>
            <a:ext cx="7132320" cy="4754880"/>
          </a:xfrm>
          <a:prstGeom prst="rect">
            <a:avLst/>
          </a:prstGeom>
          <a:solidFill>
            <a:srgbClr val="FAFBFD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60020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00"/>
                </a:solidFill>
              </a:rPr>
              <a:t>⚡ Les 16 Features Statistiques &amp; Fréquentielles (FFT)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194560"/>
            <a:ext cx="6766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2B55"/>
                </a:solidFill>
              </a:rPr>
              <a:t>• Domaine Temporel : RMS, Variance, Écart-Type, Moyenne, Facteur de Crête, Kurtosis, Skewness, Min, Max, Peak-to-Peak, Énergie carrée.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474720"/>
            <a:ext cx="6766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2B55"/>
                </a:solidFill>
              </a:rPr>
              <a:t>• Domaine Fréquentiel : Énergie spectrale FFT, Fréquence dominante, Corrélations avec les fréquences caractéristiques de défaut (BPFO=107.4Hz, BPFI=162.2Hz, BSF=47.1Hz).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5303520"/>
            <a:ext cx="6766560" cy="502920"/>
          </a:xfrm>
          <a:prstGeom prst="rect">
            <a:avLst/>
          </a:prstGeom>
          <a:solidFill>
            <a:srgbClr val="00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5330952"/>
            <a:ext cx="67665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Réduction de dimension : 1024 points bruts  ➔  16 variables clés ultra-légères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Soutenance de Stage PFE — Edge AI &amp; IoT Predictive Maintenance — ESPRIM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4. Benchmark Comparatif des Modèles IA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FF"/>
                </a:solidFill>
              </a:rPr>
              <a:t>Évaluation rigoureuse sur banc d'essai (Précision vs Ressources)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521440" cy="457200"/>
          </a:xfrm>
          <a:prstGeom prst="rect">
            <a:avLst/>
          </a:prstGeom>
          <a:solidFill>
            <a:srgbClr val="00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3619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Modèle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53619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F1-Score (Propre)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153619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F1-Score (Bruité)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361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Latence (ms)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5361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Taille Modèle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15361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Empreinte RAM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65960"/>
            <a:ext cx="11521440" cy="548640"/>
          </a:xfrm>
          <a:prstGeom prst="rect">
            <a:avLst/>
          </a:prstGeom>
          <a:solidFill>
            <a:srgbClr val="FFF8EE"/>
          </a:solidFill>
          <a:ln w="6350">
            <a:solidFill>
              <a:srgbClr val="DD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07568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00"/>
                </a:solidFill>
              </a:rPr>
              <a:t>Gradient Boosting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07568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2B55"/>
                </a:solidFill>
              </a:rPr>
              <a:t>100 %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07568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2B55"/>
                </a:solidFill>
              </a:rPr>
              <a:t>100 % (après opt.)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0756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2B55"/>
                </a:solidFill>
              </a:rPr>
              <a:t>1.08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0756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2B55"/>
                </a:solidFill>
              </a:rPr>
              <a:t>26.3 Ko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20756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2B55"/>
                </a:solidFill>
              </a:rPr>
              <a:t>Faible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560320"/>
            <a:ext cx="11521440" cy="548640"/>
          </a:xfrm>
          <a:prstGeom prst="rect">
            <a:avLst/>
          </a:prstGeom>
          <a:solidFill>
            <a:srgbClr val="F4F8FF"/>
          </a:solidFill>
          <a:ln w="6350">
            <a:solidFill>
              <a:srgbClr val="DD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6700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B55"/>
                </a:solidFill>
              </a:rPr>
              <a:t>Random Forest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26700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2B55"/>
                </a:solidFill>
              </a:rPr>
              <a:t>100 %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6700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2B55"/>
                </a:solidFill>
              </a:rPr>
              <a:t>99.6 %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6700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2B55"/>
                </a:solidFill>
              </a:rPr>
              <a:t>1.23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26700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2B55"/>
                </a:solidFill>
              </a:rPr>
              <a:t>20.1 Ko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26700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2B55"/>
                </a:solidFill>
              </a:rPr>
              <a:t>Très faible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154680"/>
            <a:ext cx="115214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26440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B55"/>
                </a:solidFill>
              </a:rPr>
              <a:t>LightGBM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326440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2B55"/>
                </a:solidFill>
              </a:rPr>
              <a:t>100 %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326440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2B55"/>
                </a:solidFill>
              </a:rPr>
              <a:t>100 %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326440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2B55"/>
                </a:solidFill>
              </a:rPr>
              <a:t>1.54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326440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2B55"/>
                </a:solidFill>
              </a:rPr>
              <a:t>23.4 Ko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326440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2B55"/>
                </a:solidFill>
              </a:rPr>
              <a:t>Modérée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749040"/>
            <a:ext cx="11521440" cy="548640"/>
          </a:xfrm>
          <a:prstGeom prst="rect">
            <a:avLst/>
          </a:prstGeom>
          <a:solidFill>
            <a:srgbClr val="F4F8FF"/>
          </a:solidFill>
          <a:ln w="6350">
            <a:solidFill>
              <a:srgbClr val="DD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8587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B55"/>
                </a:solidFill>
              </a:rPr>
              <a:t>Autoencodeur (PyTorch)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3858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2B55"/>
                </a:solidFill>
              </a:rPr>
              <a:t>99.5 %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3858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2B55"/>
                </a:solidFill>
              </a:rPr>
              <a:t>94.0 %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385876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2B55"/>
                </a:solidFill>
              </a:rPr>
              <a:t>0.19 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385876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2B55"/>
                </a:solidFill>
              </a:rPr>
              <a:t>4.6 Ko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385876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2B55"/>
                </a:solidFill>
              </a:rPr>
              <a:t>1.0 Mo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343400"/>
            <a:ext cx="115214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44531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B55"/>
                </a:solidFill>
              </a:rPr>
              <a:t>1D-CNN Compact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37560" y="445312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2B55"/>
                </a:solidFill>
              </a:rPr>
              <a:t>100 %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66360" y="445312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2B55"/>
                </a:solidFill>
              </a:rPr>
              <a:t>90.7 %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445312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2B55"/>
                </a:solidFill>
              </a:rPr>
              <a:t>0.54 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41080" y="445312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2B55"/>
                </a:solidFill>
              </a:rPr>
              <a:t>11.3 Ko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445312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2B55"/>
                </a:solidFill>
              </a:rPr>
              <a:t>0.24 Mo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937760"/>
            <a:ext cx="11521440" cy="548640"/>
          </a:xfrm>
          <a:prstGeom prst="rect">
            <a:avLst/>
          </a:prstGeom>
          <a:solidFill>
            <a:srgbClr val="F4F8FF"/>
          </a:solidFill>
          <a:ln w="6350">
            <a:solidFill>
              <a:srgbClr val="DD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504748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B55"/>
                </a:solidFill>
              </a:rPr>
              <a:t>Isolation Forest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37560" y="504748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2B55"/>
                </a:solidFill>
              </a:rPr>
              <a:t>100 %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04748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2B55"/>
                </a:solidFill>
              </a:rPr>
              <a:t>94.5 %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95160" y="50474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2B55"/>
                </a:solidFill>
              </a:rPr>
              <a:t>1.14 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41080" y="50474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2B55"/>
                </a:solidFill>
              </a:rPr>
              <a:t>573 Ko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87000" y="50474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2B55"/>
                </a:solidFill>
              </a:rPr>
              <a:t>0.97 Mo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760720"/>
            <a:ext cx="11430000" cy="548640"/>
          </a:xfrm>
          <a:prstGeom prst="rect">
            <a:avLst/>
          </a:prstGeom>
          <a:solidFill>
            <a:srgbClr val="E8F4FF"/>
          </a:solidFill>
          <a:ln w="127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583387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B55"/>
                </a:solidFill>
              </a:rPr>
              <a:t>🎯 Choix d'implémentation : Le Gradient Boosting offre le compromis parfait entre précision (100%), compacité (26 Ko) et facilité de transpilation en C++ pur pour microcontrôleur.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Soutenance de Stage PFE — Edge AI &amp; IoT Predictive Maintenance — ESPRIM 2026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5. Explicabilité de l'IA (XAI) pour la Décision Industrielle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FF"/>
                </a:solidFill>
              </a:rPr>
              <a:t>Rendre transparentes et justifiables les prédictions pour les opérateurs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03520" cy="4754880"/>
          </a:xfrm>
          <a:prstGeom prst="rect">
            <a:avLst/>
          </a:prstGeom>
          <a:solidFill>
            <a:srgbClr val="F9F6FF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148C"/>
                </a:solidFill>
              </a:rPr>
              <a:t>🔍 Approche TreeSHAP &amp; Attribution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2B55"/>
                </a:solidFill>
              </a:rPr>
              <a:t>L'algorithme SHAP calcule la contribution marginale de chaque caractéristique sur la décision finale :
1. Kurtosis : Indicateur n°1 de choc mécanique (explique &gt; 55% de la prédiction de panne).
2. RMS : Indique la sévérité énergétique de la vibration.
3. Pics Spectraux FFT : Confirment la cinématique interne du défaut.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63040"/>
            <a:ext cx="5394960" cy="4754880"/>
          </a:xfrm>
          <a:prstGeom prst="rect">
            <a:avLst/>
          </a:prstGeom>
          <a:solidFill>
            <a:srgbClr val="F0FFF5"/>
          </a:solidFill>
          <a:ln w="25400">
            <a:solidFill>
              <a:srgbClr val="10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A35A"/>
                </a:solidFill>
              </a:rPr>
              <a:t>⚙️ Diagnostic Physique Associé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2B55"/>
                </a:solidFill>
              </a:rPr>
              <a:t>• BPFO (107.4 Hz) : Fissure sur bague externe.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834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2B55"/>
                </a:solidFill>
              </a:rPr>
              <a:t>• BPFI (162.2 Hz) : Écaillage sur bague interne.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474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2B55"/>
                </a:solidFill>
              </a:rPr>
              <a:t>• BSF (47.1 Hz) : Dégradation d'une bille de roulement.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114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2B2B"/>
                </a:solidFill>
              </a:rPr>
              <a:t>• Kurtosis &gt; 4.5 &amp; RMS &gt; 0.18g : Alarme rouge critique.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7548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A35A"/>
                </a:solidFill>
              </a:rPr>
              <a:t>• Indice de Santé (HI) calculé en continu de 0% à 100%.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Soutenance de Stage PFE — Edge AI &amp; IoT Predictive Maintenance — ESPRIM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6. Déploiement Matériel TinyML sur ESP32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FF"/>
                </a:solidFill>
              </a:rPr>
              <a:t>Prototype autonome 100% temps réel et sans connexion Cloud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00" cy="2011680"/>
          </a:xfrm>
          <a:prstGeom prst="rect">
            <a:avLst/>
          </a:prstGeom>
          <a:solidFill>
            <a:srgbClr val="F5F9FF"/>
          </a:solidFill>
          <a:ln w="1905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B55"/>
                </a:solidFill>
              </a:rPr>
              <a:t>Microcontrôleur DOIT ESP32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66"/>
                </a:solidFill>
              </a:rPr>
              <a:t>Xtensa Dual-Core 240 MHz
Flash 4 Mo / SRAM 520 Ko
Traitement local sans serveur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486400" cy="2011680"/>
          </a:xfrm>
          <a:prstGeom prst="rect">
            <a:avLst/>
          </a:prstGeom>
          <a:solidFill>
            <a:srgbClr val="F5F9FF"/>
          </a:solidFill>
          <a:ln w="1905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B55"/>
                </a:solidFill>
              </a:rPr>
              <a:t>Capteur MPU-6050 (GY-521)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574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66"/>
                </a:solidFill>
              </a:rPr>
              <a:t>Accéléromètre 3 axes (I2C)
SDA: GPIO 21 / SCL: GPIO 22
Échantillonnage haute cadence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57600"/>
            <a:ext cx="5486400" cy="2011680"/>
          </a:xfrm>
          <a:prstGeom prst="rect">
            <a:avLst/>
          </a:prstGeom>
          <a:solidFill>
            <a:srgbClr val="F5F9FF"/>
          </a:solidFill>
          <a:ln w="1905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B55"/>
                </a:solidFill>
              </a:rPr>
              <a:t>Écran OLED SSD1306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66"/>
                </a:solidFill>
              </a:rPr>
              <a:t>Affichage 128x64 pixels
Jauge de santé dynamique
Affichage RMS &amp; Kurtosis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657600"/>
            <a:ext cx="5486400" cy="2011680"/>
          </a:xfrm>
          <a:prstGeom prst="rect">
            <a:avLst/>
          </a:prstGeom>
          <a:solidFill>
            <a:srgbClr val="F5F9FF"/>
          </a:solidFill>
          <a:ln w="1905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794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B55"/>
                </a:solidFill>
              </a:rPr>
              <a:t>Module Coupure MOSFET IRF520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5196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66"/>
                </a:solidFill>
              </a:rPr>
              <a:t>Commande sur GPIO 23
Coupure d'urgence moteur (LOTO)
Sécurité machine proactive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⚡ Modèle C++ pur transpilé (model_tinyml.h) : 30 arbres de décision exécutés en seulement 0.02 ms 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Soutenance de Stage PFE — Edge AI &amp; IoT Predictive Maintenance — ESPRIM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7. Agent IA / RAG &amp; Assistant de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FF"/>
                </a:solidFill>
              </a:rPr>
              <a:t>Génération Augmentée par Récupération basée sur 16 documents techniques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solidFill>
            <a:srgbClr val="F4F8FF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B55"/>
                </a:solidFill>
              </a:rPr>
              <a:t>📚 Base Documentaire 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2B55"/>
                </a:solidFill>
              </a:rPr>
              <a:t>• 16 documents normatifs et scientifiques indexés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2B55"/>
                </a:solidFill>
              </a:rPr>
              <a:t>  - Norme ISO 10816 (seuils de sévérité vibratoire).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2B55"/>
                </a:solidFill>
              </a:rPr>
              <a:t>  - Fiches techniques cinématiques des roulements SKF.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2B55"/>
                </a:solidFill>
              </a:rPr>
              <a:t>  - Guides de traitement du signal et détection de pannes.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2B55"/>
                </a:solidFill>
              </a:rPr>
              <a:t>• Modèle d'embedding multilingue performant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17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2B55"/>
                </a:solidFill>
              </a:rPr>
              <a:t>  sentence-transformers (MiniLM-L12).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20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2B55"/>
                </a:solidFill>
              </a:rPr>
              <a:t>• Index vectoriel optimisé avec similarité cosinus.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5394960" cy="4754880"/>
          </a:xfrm>
          <a:prstGeom prst="rect">
            <a:avLst/>
          </a:prstGeom>
          <a:solidFill>
            <a:srgbClr val="F0FFF4"/>
          </a:solidFill>
          <a:ln w="25400">
            <a:solidFill>
              <a:srgbClr val="10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A35A"/>
                </a:solidFill>
              </a:rPr>
              <a:t>🤖 Fonctionnalités de l'Agent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94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4415"/>
                </a:solidFill>
              </a:rPr>
              <a:t>• Chat interactif pour assister le technicien.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81635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4415"/>
                </a:solidFill>
              </a:rPr>
              <a:t>• Analyse sémantique de la requête et contexte de panne.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3814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4415"/>
                </a:solidFill>
              </a:rPr>
              <a:t>• Récupération précise des extraits documentaires pertinents.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05993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4415"/>
                </a:solidFill>
              </a:rPr>
              <a:t>• Génération automatique d'un rapport officiel de diagnostic (PDF / Markdown).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68172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4415"/>
                </a:solidFill>
              </a:rPr>
              <a:t>• Recommandations d'actions de maintenance corrective ciblées.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Soutenance de Stage PFE — Edge AI &amp; IoT Predictive Maintenance — ESPRIM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8. Dashboard Web Industriel &amp; API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FF"/>
                </a:solidFill>
              </a:rPr>
              <a:t>Interface de supervision temps réel moderne et réactive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566160" cy="4389120"/>
          </a:xfrm>
          <a:prstGeom prst="rect">
            <a:avLst/>
          </a:prstGeom>
          <a:solidFill>
            <a:srgbClr val="FAFAFE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566160" cy="54864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FastAPI Backend (Port 8000)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2B55"/>
                </a:solidFill>
              </a:rPr>
              <a:t>• Endpoints REST haute performance.
• Streaming télémétrique temps réel.
• Documentation interactive OpenAPI / Swagger.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45920"/>
            <a:ext cx="3566160" cy="4389120"/>
          </a:xfrm>
          <a:prstGeom prst="rect">
            <a:avLst/>
          </a:prstGeom>
          <a:solidFill>
            <a:srgbClr val="FAFAFE"/>
          </a:solidFill>
          <a:ln w="25400">
            <a:solidFill>
              <a:srgbClr val="10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3566160" cy="548640"/>
          </a:xfrm>
          <a:prstGeom prst="rect">
            <a:avLst/>
          </a:prstGeom>
          <a:solidFill>
            <a:srgbClr val="10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737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Interface React 19 / Vite (Port 5173)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37744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2B55"/>
                </a:solidFill>
              </a:rPr>
              <a:t>• Graphiques vibratoires interactifs (Recharts).
• Spectre FFT avec pics cinématiques en direct.
• Jauge de santé machine et historique temporel.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645920"/>
            <a:ext cx="3566160" cy="4389120"/>
          </a:xfrm>
          <a:prstGeom prst="rect">
            <a:avLst/>
          </a:prstGeom>
          <a:solidFill>
            <a:srgbClr val="FAFAFE"/>
          </a:solidFill>
          <a:ln w="254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645920"/>
            <a:ext cx="3566160" cy="5486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37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Streaming IoT &amp; Alertes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7744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2B55"/>
                </a:solidFill>
              </a:rPr>
              <a:t>• Communication MQTT / Émulation bus local.
• Déclenchement d'alarmes sonores et visuelles.
• Bouton d'export PDF du rapport en 1 clic.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Soutenance de Stage PFE — Edge AI &amp; IoT Predictive Maintenance — ESPRIM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9. Validation &amp; Résultats des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FF"/>
                </a:solidFill>
              </a:rPr>
              <a:t>Un projet robuste, reproductible et validé à 100%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685800"/>
          </a:xfrm>
          <a:prstGeom prst="rect">
            <a:avLst/>
          </a:prstGeom>
          <a:solidFill>
            <a:srgbClr val="F6FBF7"/>
          </a:solidFill>
          <a:ln w="12700">
            <a:solidFill>
              <a:srgbClr val="10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B55"/>
                </a:solidFill>
              </a:rPr>
              <a:t>✅ Étape 1 : Préparation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627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Génération et split stratifié des signaux CWRU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1600200"/>
            <a:ext cx="1920240" cy="411480"/>
          </a:xfrm>
          <a:prstGeom prst="rect">
            <a:avLst/>
          </a:prstGeom>
          <a:solidFill>
            <a:srgbClr val="10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0" y="1627632"/>
            <a:ext cx="19202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100% VALIDÉ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11247120" cy="685800"/>
          </a:xfrm>
          <a:prstGeom prst="rect">
            <a:avLst/>
          </a:prstGeom>
          <a:solidFill>
            <a:srgbClr val="F6FBF7"/>
          </a:solidFill>
          <a:ln w="12700">
            <a:solidFill>
              <a:srgbClr val="10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77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B55"/>
                </a:solidFill>
              </a:rPr>
              <a:t>✅ Étape 2 : Extraction 16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4048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Calcul FFT, descripteurs temporels &amp; scaler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377440"/>
            <a:ext cx="1920240" cy="411480"/>
          </a:xfrm>
          <a:prstGeom prst="rect">
            <a:avLst/>
          </a:prstGeom>
          <a:solidFill>
            <a:srgbClr val="10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404872"/>
            <a:ext cx="19202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100% VALIDÉ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11247120" cy="685800"/>
          </a:xfrm>
          <a:prstGeom prst="rect">
            <a:avLst/>
          </a:prstGeom>
          <a:solidFill>
            <a:srgbClr val="F6FBF7"/>
          </a:solidFill>
          <a:ln w="12700">
            <a:solidFill>
              <a:srgbClr val="10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546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B55"/>
                </a:solidFill>
              </a:rPr>
              <a:t>✅ Étape 3 : Entraînement 5 Modèles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1821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Validation croisée &amp; sauvegarde des poids 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3154680"/>
            <a:ext cx="1920240" cy="411480"/>
          </a:xfrm>
          <a:prstGeom prst="rect">
            <a:avLst/>
          </a:prstGeom>
          <a:solidFill>
            <a:srgbClr val="10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3182112"/>
            <a:ext cx="19202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100% VALIDÉ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94760"/>
            <a:ext cx="11247120" cy="685800"/>
          </a:xfrm>
          <a:prstGeom prst="rect">
            <a:avLst/>
          </a:prstGeom>
          <a:solidFill>
            <a:srgbClr val="F6FBF7"/>
          </a:solidFill>
          <a:ln w="12700">
            <a:solidFill>
              <a:srgbClr val="10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319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B55"/>
                </a:solidFill>
              </a:rPr>
              <a:t>✅ Étape 4 : Benchmark Edge &amp; XAI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9593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Mesure latence, RAM, TreeSHAP &amp; profiler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3931920"/>
            <a:ext cx="1920240" cy="411480"/>
          </a:xfrm>
          <a:prstGeom prst="rect">
            <a:avLst/>
          </a:prstGeom>
          <a:solidFill>
            <a:srgbClr val="10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3959352"/>
            <a:ext cx="19202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100% VALIDÉ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572000"/>
            <a:ext cx="11247120" cy="685800"/>
          </a:xfrm>
          <a:prstGeom prst="rect">
            <a:avLst/>
          </a:prstGeom>
          <a:solidFill>
            <a:srgbClr val="F6FBF7"/>
          </a:solidFill>
          <a:ln w="12700">
            <a:solidFill>
              <a:srgbClr val="10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709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B55"/>
                </a:solidFill>
              </a:rPr>
              <a:t>✅ Étape 5 : Agent RAG &amp; Diagnostic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7365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Indexation vectorielle et génération de rapport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4709160"/>
            <a:ext cx="1920240" cy="411480"/>
          </a:xfrm>
          <a:prstGeom prst="rect">
            <a:avLst/>
          </a:prstGeom>
          <a:solidFill>
            <a:srgbClr val="10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4736592"/>
            <a:ext cx="19202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100% VALIDÉ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349240"/>
            <a:ext cx="11247120" cy="685800"/>
          </a:xfrm>
          <a:prstGeom prst="rect">
            <a:avLst/>
          </a:prstGeom>
          <a:solidFill>
            <a:srgbClr val="F6FBF7"/>
          </a:solidFill>
          <a:ln w="12700">
            <a:solidFill>
              <a:srgbClr val="10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4864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B55"/>
                </a:solidFill>
              </a:rPr>
              <a:t>✅ Étape 6 : Firmware ESP32 TinyML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55138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Inférence locale en C++, scanner I2C &amp; OLED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0" y="5486400"/>
            <a:ext cx="1920240" cy="411480"/>
          </a:xfrm>
          <a:prstGeom prst="rect">
            <a:avLst/>
          </a:prstGeom>
          <a:solidFill>
            <a:srgbClr val="10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0" y="5513832"/>
            <a:ext cx="19202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100% VALIDÉ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Soutenance de Stage PFE — Edge AI &amp; IoT Predictive Maintenance — ESPRIM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10. Bilan du Stage &amp; Perspectives d'Évolution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FF"/>
                </a:solidFill>
              </a:rPr>
              <a:t>Compétences acquises et ouvertures pour le futur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03520" cy="4754880"/>
          </a:xfrm>
          <a:prstGeom prst="rect">
            <a:avLst/>
          </a:prstGeom>
          <a:solidFill>
            <a:srgbClr val="F0F7FF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5"/>
                </a:solidFill>
              </a:rPr>
              <a:t>🎓 Compétences Acquises &amp; Apports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2B55"/>
                </a:solidFill>
              </a:rPr>
              <a:t>• Maîtrise de la chaîne complète Edge AI industrielle.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2B55"/>
                </a:solidFill>
              </a:rPr>
              <a:t>• Traitement du signal vibratoire (FFT, filtrage, kurtosis).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2B55"/>
                </a:solidFill>
              </a:rPr>
              <a:t>• Programmation bas-niveau en C++ embarqué (TinyML ESP32).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776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2B55"/>
                </a:solidFill>
              </a:rPr>
              <a:t>• Développement Fullstack moderne (FastAPI, React 19).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2B55"/>
                </a:solidFill>
              </a:rPr>
              <a:t>• Conception d'agents IA spécialisés avec architecture RAG.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663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2B55"/>
                </a:solidFill>
              </a:rPr>
              <a:t>• Rigueur méthodologique, documentation et gestion de projet.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463040"/>
            <a:ext cx="5394960" cy="4754880"/>
          </a:xfrm>
          <a:prstGeom prst="rect">
            <a:avLst/>
          </a:prstGeom>
          <a:solidFill>
            <a:srgbClr val="FFF9F2"/>
          </a:solidFill>
          <a:ln w="254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00"/>
                </a:solidFill>
              </a:rPr>
              <a:t>🚀 Perspectives d'Évolution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945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2B55"/>
                </a:solidFill>
              </a:rPr>
              <a:t>• Déploiement multi-capteurs (acoustique + température + courant).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7889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2B55"/>
                </a:solidFill>
              </a:rPr>
              <a:t>• Intégration de la prédiction de Durée de Vie Résiduelle (RUL).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832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2B55"/>
                </a:solidFill>
              </a:rPr>
              <a:t>• Déploiement en usine avec bus industriel (Modbus TCP / OPC-UA).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9776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2B55"/>
                </a:solidFill>
              </a:rPr>
              <a:t>• Optimisation matérielle via quantification INT8 avancée.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572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2B55"/>
                </a:solidFill>
              </a:rPr>
              <a:t>• Valorisation académique sous forme de publication scientifique.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Soutenance de Stage PFE — Edge AI &amp; IoT Predictive Maintenance — ESPRIM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MERCI POUR VOTRE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6B00"/>
                </a:solidFill>
              </a:rPr>
              <a:t>Place aux Questions &amp; Échanges avec la Professeure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3474720"/>
            <a:ext cx="7589520" cy="36576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CE4FF"/>
                </a:solidFill>
              </a:rPr>
              <a:t>Démonstration interactive en direct prête à être présentée :
Dashboard Web (localhost:5173) · API REST (localhost:8000) · Prototype ESP32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